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6"/>
          </a:solidFill>
          <a:ln w="12700">
            <a:solidFill>
              <a:srgbClr val="0E1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512064"/>
            <a:ext cx="402336" cy="0"/>
          </a:xfrm>
          <a:prstGeom prst="line">
            <a:avLst/>
          </a:prstGeom>
          <a:noFill/>
          <a:ln w="2921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07008" y="429768"/>
            <a:ext cx="2834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BFE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BEYOND TOMORROW SUMMIT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8368" y="960120"/>
            <a:ext cx="44805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ReliefGrid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94944" y="1664208"/>
            <a:ext cx="44348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8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response before the crisis spreads.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4944" y="2542032"/>
            <a:ext cx="448056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B8C4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local-first app for community response teams that turns noisy field reports into a ranked dispatch brief.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3950208"/>
            <a:ext cx="1508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93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13232" y="4297680"/>
            <a:ext cx="1600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8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Top-zone dispatch score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2331720" y="3950208"/>
            <a:ext cx="1508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331720" y="4297680"/>
            <a:ext cx="1600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8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 ranked per zone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3950208" y="3950208"/>
            <a:ext cx="1508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hr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950208" y="4297680"/>
            <a:ext cx="1600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8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generated for field teams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632704" y="658368"/>
            <a:ext cx="5742432" cy="4059936"/>
          </a:xfrm>
          <a:prstGeom prst="rect">
            <a:avLst/>
          </a:prstGeom>
          <a:solidFill>
            <a:srgbClr val="1A2436"/>
          </a:solidFill>
          <a:ln w="5080">
            <a:solidFill>
              <a:srgbClr val="D8DEE9"/>
            </a:solidFill>
            <a:prstDash val="solid"/>
          </a:ln>
        </p:spPr>
      </p:sp>
      <p:pic>
        <p:nvPicPr>
          <p:cNvPr id="15" name="Image 0" descr="reliefgrid-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694944"/>
            <a:ext cx="5669280" cy="3986784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650992" y="5102352"/>
            <a:ext cx="5715000" cy="0"/>
          </a:xfrm>
          <a:prstGeom prst="line">
            <a:avLst/>
          </a:prstGeom>
          <a:noFill/>
          <a:ln w="8890">
            <a:solidFill>
              <a:srgbClr val="2F3B5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0" y="5285232"/>
            <a:ext cx="5669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Deliverables ready: working app, demo video, screenshots, pitch deck, Devpost field copy.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66928" y="6437376"/>
            <a:ext cx="10789920" cy="0"/>
          </a:xfrm>
          <a:prstGeom prst="line">
            <a:avLst/>
          </a:prstGeom>
          <a:noFill/>
          <a:ln w="7620">
            <a:solidFill>
              <a:srgbClr val="37415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ReliefGrid / Beyond Tomorrow Summit / 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40233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69037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Emergency teams lose time when every zone looks urgent.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627632"/>
            <a:ext cx="6355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is intentionally narrow: make the first prioritization call explainable, shareable, and fast.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43000" y="2715768"/>
            <a:ext cx="877824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1460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2404872"/>
            <a:ext cx="2194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Resident reports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50208" y="2386584"/>
            <a:ext cx="40233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volume, uneven confidence, hard to compare.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549640" y="2505456"/>
            <a:ext cx="1280160" cy="301752"/>
          </a:xfrm>
          <a:prstGeom prst="roundRect">
            <a:avLst>
              <a:gd name="adj" fmla="val 15152"/>
            </a:avLst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59368" y="2583180"/>
            <a:ext cx="106070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43000" y="3767328"/>
            <a:ext cx="877824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0200" y="3456432"/>
            <a:ext cx="2194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Supply limits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50208" y="3438144"/>
            <a:ext cx="40233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Water, transport, and volunteers run out before need does.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549640" y="3557016"/>
            <a:ext cx="1280160" cy="301752"/>
          </a:xfrm>
          <a:prstGeom prst="roundRect">
            <a:avLst>
              <a:gd name="adj" fmla="val 15152"/>
            </a:avLst>
          </a:prstGeom>
          <a:solidFill>
            <a:srgbClr val="FFF5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59368" y="3634740"/>
            <a:ext cx="106070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143000" y="4818888"/>
            <a:ext cx="877824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617720"/>
            <a:ext cx="411480" cy="41148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00200" y="4507992"/>
            <a:ext cx="2194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E11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Fragile comms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50208" y="4489704"/>
            <a:ext cx="40233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perfect cloud dashboard fails when field teams are offline.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49640" y="4608576"/>
            <a:ext cx="1280160" cy="301752"/>
          </a:xfrm>
          <a:prstGeom prst="roundRect">
            <a:avLst>
              <a:gd name="adj" fmla="val 15152"/>
            </a:avLst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59368" y="4686300"/>
            <a:ext cx="106070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E11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mode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183880" y="1024128"/>
            <a:ext cx="2971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1024128"/>
            <a:ext cx="54864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48472" y="1152144"/>
            <a:ext cx="2697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target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348472" y="1371600"/>
            <a:ext cx="267919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responder should understand why the top zone wins without opening a model explanation page.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183880" y="5074920"/>
            <a:ext cx="2971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5074920"/>
            <a:ext cx="54864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48472" y="5202936"/>
            <a:ext cx="2697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fit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48472" y="5422392"/>
            <a:ext cx="267919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Impact, implementation, UX, and innovation are each explicit in the prototype.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6928" y="6437376"/>
            <a:ext cx="10789920" cy="0"/>
          </a:xfrm>
          <a:prstGeom prst="line">
            <a:avLst/>
          </a:prstGeom>
          <a:noFill/>
          <a:ln w="7620">
            <a:solidFill>
              <a:srgbClr val="D8DE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8A95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ReliefGrid / Beyond Tomorrow Summit / 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40233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69037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ReliefGrid compresses a messy incident into one dispatch decision.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627632"/>
            <a:ext cx="6355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is built around the moment before action: rank, justify, export.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514600"/>
            <a:ext cx="2267712" cy="182880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788920"/>
            <a:ext cx="438912" cy="43891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898648"/>
            <a:ext cx="128016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50976" y="3456432"/>
            <a:ext cx="17373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setup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50976" y="3822192"/>
            <a:ext cx="184708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Adjust supply, comms, transport, and crew constraints.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27248" y="3236976"/>
            <a:ext cx="310896" cy="347472"/>
          </a:xfrm>
          <a:prstGeom prst="chevron">
            <a:avLst/>
          </a:prstGeom>
          <a:solidFill>
            <a:srgbClr val="C9D6E5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2514600"/>
            <a:ext cx="2267712" cy="182880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67328" y="278892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13632" y="2898648"/>
            <a:ext cx="128016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785616" y="3456432"/>
            <a:ext cx="17373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Zone scoring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785616" y="3822192"/>
            <a:ext cx="184708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need, vulnerability, access, and confidence.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61888" y="3236976"/>
            <a:ext cx="310896" cy="347472"/>
          </a:xfrm>
          <a:prstGeom prst="chevron">
            <a:avLst/>
          </a:prstGeom>
          <a:solidFill>
            <a:srgbClr val="C9D6E5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514600"/>
            <a:ext cx="2267712" cy="182880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01968" y="2788920"/>
            <a:ext cx="438912" cy="4389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48272" y="2898648"/>
            <a:ext cx="128016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620256" y="3456432"/>
            <a:ext cx="17373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map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20256" y="3822192"/>
            <a:ext cx="184708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the priority pattern and bottleneck type.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796528" y="3236976"/>
            <a:ext cx="310896" cy="347472"/>
          </a:xfrm>
          <a:prstGeom prst="chevron">
            <a:avLst/>
          </a:prstGeom>
          <a:solidFill>
            <a:srgbClr val="C9D6E5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0" y="2514600"/>
            <a:ext cx="2267712" cy="182880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36608" y="2788920"/>
            <a:ext cx="438912" cy="43891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82912" y="2898648"/>
            <a:ext cx="128016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454896" y="3456432"/>
            <a:ext cx="17373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Dispatch brief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454896" y="3822192"/>
            <a:ext cx="184708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a concrete first-hour action plan.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7240" y="5065776"/>
            <a:ext cx="10378440" cy="585216"/>
          </a:xfrm>
          <a:prstGeom prst="rect">
            <a:avLst/>
          </a:prstGeom>
          <a:solidFill>
            <a:srgbClr val="E9F2FF"/>
          </a:solidFill>
          <a:ln w="5715">
            <a:solidFill>
              <a:srgbClr val="C8DC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552" y="5257800"/>
            <a:ext cx="914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874520" y="5230368"/>
            <a:ext cx="80010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ranked zone, a reason code, resource guidance, and a brief that can be handed off without an account.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" y="6437376"/>
            <a:ext cx="10789920" cy="0"/>
          </a:xfrm>
          <a:prstGeom prst="line">
            <a:avLst/>
          </a:prstGeom>
          <a:noFill/>
          <a:ln w="7620">
            <a:solidFill>
              <a:srgbClr val="D8DE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8A95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ReliefGrid / Beyond Tomorrow Summit / 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40233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69037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working build favors visible reasoning over hidden automation.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627632"/>
            <a:ext cx="6355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score can be inspected through the same UI judges will use in the demo.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011680"/>
            <a:ext cx="6839712" cy="4828032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9"/>
            </a:solidFill>
            <a:prstDash val="solid"/>
          </a:ln>
        </p:spPr>
      </p:sp>
      <p:pic>
        <p:nvPicPr>
          <p:cNvPr id="6" name="Image 0" descr="reliefgrid-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048256"/>
            <a:ext cx="676656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0" y="1938528"/>
            <a:ext cx="3154680" cy="822960"/>
          </a:xfrm>
          <a:prstGeom prst="rect">
            <a:avLst/>
          </a:prstGeom>
          <a:solidFill>
            <a:srgbClr val="EAF2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0" y="1938528"/>
            <a:ext cx="54864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11312" y="2066544"/>
            <a:ext cx="28803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constraints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11312" y="2286000"/>
            <a:ext cx="286207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Supply and transport pressure visibly change ranking priorities.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046720" y="3054096"/>
            <a:ext cx="3154680" cy="822960"/>
          </a:xfrm>
          <a:prstGeom prst="rect">
            <a:avLst/>
          </a:prstGeom>
          <a:solidFill>
            <a:srgbClr val="EAF7F0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46720" y="3054096"/>
            <a:ext cx="54864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11312" y="3182112"/>
            <a:ext cx="28803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Ranked zones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211312" y="3401568"/>
            <a:ext cx="286207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zone shows need, vulnerability, access, confidence, score, and action.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046720" y="4169664"/>
            <a:ext cx="3154680" cy="822960"/>
          </a:xfrm>
          <a:prstGeom prst="rect">
            <a:avLst/>
          </a:prstGeom>
          <a:solidFill>
            <a:srgbClr val="FFF1F2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46720" y="4169664"/>
            <a:ext cx="54864" cy="82296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11312" y="4297680"/>
            <a:ext cx="28803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E11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 export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211312" y="4517136"/>
            <a:ext cx="286207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top-zone recommendation becomes a screenshot-ready dispatch receipt.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543800" y="2505456"/>
            <a:ext cx="438912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543800" y="3611880"/>
            <a:ext cx="438912" cy="0"/>
          </a:xfrm>
          <a:prstGeom prst="line">
            <a:avLst/>
          </a:prstGeom>
          <a:noFill/>
          <a:ln w="1651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543800" y="4736592"/>
            <a:ext cx="438912" cy="0"/>
          </a:xfrm>
          <a:prstGeom prst="line">
            <a:avLst/>
          </a:prstGeom>
          <a:noFill/>
          <a:ln w="16510">
            <a:solidFill>
              <a:srgbClr val="E11D48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566928" y="6437376"/>
            <a:ext cx="10789920" cy="0"/>
          </a:xfrm>
          <a:prstGeom prst="line">
            <a:avLst/>
          </a:prstGeom>
          <a:noFill/>
          <a:ln w="7620">
            <a:solidFill>
              <a:srgbClr val="D8DEE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8A95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ReliefGrid / Beyond Tomorrow Summit / 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40233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69037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first version is small enough to use, but broad enough to scale.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627632"/>
            <a:ext cx="6355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ReliefGrid avoids a fragile all-in-one emergency platform and starts with a repeatable decision unit.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9944" y="1014984"/>
            <a:ext cx="4325112" cy="283464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9"/>
            </a:solidFill>
            <a:prstDash val="solid"/>
          </a:ln>
        </p:spPr>
      </p:sp>
      <p:pic>
        <p:nvPicPr>
          <p:cNvPr id="6" name="Image 0" descr="reliefgrid-bri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051560"/>
            <a:ext cx="4251960" cy="27614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701784" y="3849624"/>
            <a:ext cx="1399032" cy="2935224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9"/>
            </a:solidFill>
            <a:prstDash val="solid"/>
          </a:ln>
        </p:spPr>
      </p:sp>
      <p:pic>
        <p:nvPicPr>
          <p:cNvPr id="8" name="Image 1" descr="reliefgrid-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3886200"/>
            <a:ext cx="1325880" cy="286207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49808" y="2331720"/>
            <a:ext cx="2331720" cy="9601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9808" y="2331720"/>
            <a:ext cx="73152" cy="9601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32688" y="2478024"/>
            <a:ext cx="1920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E11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Heatwave welfare checks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932688" y="2770632"/>
            <a:ext cx="1874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apartment blocks by vulnerability and access.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538728" y="2331720"/>
            <a:ext cx="2331720" cy="9601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538728" y="2331720"/>
            <a:ext cx="73152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721608" y="2478024"/>
            <a:ext cx="1920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Flood response triage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721608" y="2770632"/>
            <a:ext cx="1874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zones with isolating roads and supply gaps.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749808" y="3758184"/>
            <a:ext cx="2331720" cy="9601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49808" y="3758184"/>
            <a:ext cx="73152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32688" y="3904488"/>
            <a:ext cx="1920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 outage routing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932688" y="4197096"/>
            <a:ext cx="1874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generator, water, and transport to the best first site.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538728" y="3758184"/>
            <a:ext cx="2331720" cy="9601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538728" y="3758184"/>
            <a:ext cx="73152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721608" y="3904488"/>
            <a:ext cx="1920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Campus safety ops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3721608" y="4197096"/>
            <a:ext cx="1874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Coordinate volunteers without exposing sensitive data.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786384" y="5321808"/>
            <a:ext cx="2103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can grow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786384" y="5650992"/>
            <a:ext cx="51663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lnSpc>
                <a:spcPct val="88000"/>
              </a:lnSpc>
              <a:buNone/>
            </a:pPr>
            <a:r>
              <a:rPr lang="en-US" sz="13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</a:t>
            </a:r>
            <a:pPr indent="0" marL="0">
              <a:lnSpc>
                <a:spcPct val="88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deploy today, data connectors later.
</a:t>
            </a:r>
            <a:pPr indent="0" marL="0">
              <a:lnSpc>
                <a:spcPct val="88000"/>
              </a:lnSpc>
              <a:buNone/>
            </a:pPr>
            <a:r>
              <a:rPr lang="en-US" sz="13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</a:t>
            </a:r>
            <a:pPr indent="0" marL="0">
              <a:lnSpc>
                <a:spcPct val="88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Scoring remains transparent enough for local trust.
</a:t>
            </a:r>
            <a:pPr indent="0" marL="0">
              <a:lnSpc>
                <a:spcPct val="88000"/>
              </a:lnSpc>
              <a:buNone/>
            </a:pPr>
            <a:r>
              <a:rPr lang="en-US" sz="13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</a:t>
            </a:r>
            <a:pPr indent="0" marL="0">
              <a:lnSpc>
                <a:spcPct val="88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Exports work even when the receiving team has no app login.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566928" y="6437376"/>
            <a:ext cx="10789920" cy="0"/>
          </a:xfrm>
          <a:prstGeom prst="line">
            <a:avLst/>
          </a:prstGeom>
          <a:noFill/>
          <a:ln w="7620">
            <a:solidFill>
              <a:srgbClr val="D8DEE9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66928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8A95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ReliefGrid / Beyond Tomorrow Summit / 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40233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BFE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PLAN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69037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submission is complete enough for judges to run and inspect.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627632"/>
            <a:ext cx="6355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backend dependency is required for the prototype, which keeps the demo stable under deadline pressure.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" y="2395728"/>
            <a:ext cx="2176272" cy="1078992"/>
          </a:xfrm>
          <a:prstGeom prst="rect">
            <a:avLst/>
          </a:prstGeom>
          <a:solidFill>
            <a:srgbClr val="172235"/>
          </a:solidFill>
          <a:ln w="6985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70048"/>
            <a:ext cx="420624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52928"/>
            <a:ext cx="17373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app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127248"/>
            <a:ext cx="1737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8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HTML/CSS/JS entry point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3538728" y="2395728"/>
            <a:ext cx="2176272" cy="1078992"/>
          </a:xfrm>
          <a:prstGeom prst="rect">
            <a:avLst/>
          </a:prstGeom>
          <a:solidFill>
            <a:srgbClr val="172235"/>
          </a:solidFill>
          <a:ln w="6985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03320" y="2670048"/>
            <a:ext cx="420624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2852928"/>
            <a:ext cx="17373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Scoring engine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03320" y="3127248"/>
            <a:ext cx="1737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8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Need, risk, access, confidence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6327648" y="2395728"/>
            <a:ext cx="2176272" cy="1078992"/>
          </a:xfrm>
          <a:prstGeom prst="rect">
            <a:avLst/>
          </a:prstGeom>
          <a:solidFill>
            <a:srgbClr val="172235"/>
          </a:solidFill>
          <a:ln w="6985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2670048"/>
            <a:ext cx="420624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852928"/>
            <a:ext cx="17373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proof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3127248"/>
            <a:ext cx="1737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8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Canvas map and receipt export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9116568" y="2395728"/>
            <a:ext cx="2176272" cy="1078992"/>
          </a:xfrm>
          <a:prstGeom prst="rect">
            <a:avLst/>
          </a:prstGeom>
          <a:solidFill>
            <a:srgbClr val="172235"/>
          </a:solidFill>
          <a:ln w="6985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2670048"/>
            <a:ext cx="420624" cy="0"/>
          </a:xfrm>
          <a:prstGeom prst="line">
            <a:avLst/>
          </a:prstGeom>
          <a:noFill/>
          <a:ln w="25400">
            <a:solidFill>
              <a:srgbClr val="E11D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2852928"/>
            <a:ext cx="17373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127248"/>
            <a:ext cx="1737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8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LocalStorage scenario state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1508760" y="4096512"/>
            <a:ext cx="886968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43000" y="3959352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3272" y="4425696"/>
            <a:ext cx="6949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58952" y="4700016"/>
            <a:ext cx="129844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87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prototype + package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3749040" y="3959352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9312" y="4425696"/>
            <a:ext cx="6949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64992" y="4700016"/>
            <a:ext cx="129844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87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repo + hosted demo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6355080" y="3959352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45352" y="4425696"/>
            <a:ext cx="6949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71032" y="4700016"/>
            <a:ext cx="129844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87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SMS intake + city data feeds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8961120" y="3959352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51392" y="4425696"/>
            <a:ext cx="6949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77072" y="4700016"/>
            <a:ext cx="129844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87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trail + incident templates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749808" y="5522976"/>
            <a:ext cx="10149840" cy="493776"/>
          </a:xfrm>
          <a:prstGeom prst="rect">
            <a:avLst/>
          </a:prstGeom>
          <a:solidFill>
            <a:srgbClr val="18263A"/>
          </a:solidFill>
          <a:ln w="5715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7552" y="5696712"/>
            <a:ext cx="14173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BFE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checklist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487168" y="5669280"/>
            <a:ext cx="7086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App, WebM demo, screenshots, pitch deck, field copy, runbook, and final QA are packaged locally.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" y="6437376"/>
            <a:ext cx="10789920" cy="0"/>
          </a:xfrm>
          <a:prstGeom prst="line">
            <a:avLst/>
          </a:prstGeom>
          <a:noFill/>
          <a:ln w="7620">
            <a:solidFill>
              <a:srgbClr val="37415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ReliefGrid / Beyond Tomorrow Summit / 06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ReliefGrid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ReliefGrid Pitch Deck</dc:title>
  <dc:subject>Beyond Tomorrow Summit submission pitch deck</dc:subject>
  <dc:creator>Sueun Cho</dc:creator>
  <cp:lastModifiedBy>Sueun Cho</cp:lastModifiedBy>
  <cp:revision>1</cp:revision>
  <dcterms:created xsi:type="dcterms:W3CDTF">2026-06-03T02:17:56Z</dcterms:created>
  <dcterms:modified xsi:type="dcterms:W3CDTF">2026-06-03T02:17:56Z</dcterms:modified>
</cp:coreProperties>
</file>